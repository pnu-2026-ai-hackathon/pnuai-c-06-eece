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dirty="0">
                <a:solidFill>
                  <a:srgbClr val="19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TFT_BL     </a:t>
            </a:r>
            <a:pPr algn="l" indent="0" marL="0">
              <a:buNone/>
            </a:pPr>
            <a:r>
              <a:rPr lang="en-US" sz="2900" b="1" dirty="0">
                <a:solidFill>
                  <a:srgbClr val="087A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62656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Swapped with MISO to match soldered E1 wiring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9584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dirty="0">
                <a:solidFill>
                  <a:srgbClr val="19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TFT_BL_PIN </a:t>
            </a:r>
            <a:pPr algn="l" indent="0" marL="0">
              <a:buNone/>
            </a:pPr>
            <a:r>
              <a:rPr lang="en-US" sz="2900" b="1" dirty="0">
                <a:solidFill>
                  <a:srgbClr val="D629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E5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Backlight PWM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30975" y="6217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GitHub 공개 저장소 FForzano/xgsail-e1 (Apache-2.0)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소프트웨어는 다시 배포하면 됩니다. </a:t>
            </a:r>
            <a:pPr algn="l" indent="0" marL="0">
              <a:buNone/>
            </a:pPr>
            <a:r>
              <a:rPr lang="en-US" sz="3200" b="1" dirty="0">
                <a:solidFill>
                  <a:srgbClr val="D629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하드웨어는 돈이 사라집니다.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2328" y="2514600"/>
            <a:ext cx="3200400" cy="2697480"/>
          </a:xfrm>
          <a:prstGeom prst="roundRect">
            <a:avLst>
              <a:gd name="adj" fmla="val 4746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92328" y="2715768"/>
            <a:ext cx="32004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2.9회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29488" y="4645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재작업 횟수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95648" y="2514600"/>
            <a:ext cx="3200400" cy="2697480"/>
          </a:xfrm>
          <a:prstGeom prst="roundRect">
            <a:avLst>
              <a:gd name="adj" fmla="val 4746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95648" y="2715768"/>
            <a:ext cx="32004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29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6,000만원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632808" y="4645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1회당 비용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8968" y="2514600"/>
            <a:ext cx="3200400" cy="2697480"/>
          </a:xfrm>
          <a:prstGeom prst="roundRect">
            <a:avLst>
              <a:gd name="adj" fmla="val 4746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98968" y="2715768"/>
            <a:ext cx="32004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8.5일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36128" y="4645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1회당 지연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72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Lifecycle Insights, PCB 설계 프로젝트 조사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서울시는 이 문제에 </a:t>
            </a:r>
            <a:pPr algn="l" indent="0" marL="0">
              <a:buNone/>
            </a:pPr>
            <a:r>
              <a:rPr lang="en-US" sz="3000" b="1" dirty="0">
                <a:solidFill>
                  <a:srgbClr val="1B64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세금을 쓰고 있습니다.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545775" cy="123444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9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600200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“위험부담을 감수하고 제품개발에 도전해야 하므로 진입장벽이 크다”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서울특별시 경제정책실 창업정책과, 2025.02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2328" y="3246120"/>
            <a:ext cx="3200400" cy="2423160"/>
          </a:xfrm>
          <a:prstGeom prst="roundRect">
            <a:avLst>
              <a:gd name="adj" fmla="val 5283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2328" y="3447288"/>
            <a:ext cx="32004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64개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29488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2023년 지원 기업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95648" y="3246120"/>
            <a:ext cx="3200400" cy="2423160"/>
          </a:xfrm>
          <a:prstGeom prst="roundRect">
            <a:avLst>
              <a:gd name="adj" fmla="val 5283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95648" y="3447288"/>
            <a:ext cx="32004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235건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32808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시제품 제작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8968" y="3246120"/>
            <a:ext cx="3200400" cy="2423160"/>
          </a:xfrm>
          <a:prstGeom prst="roundRect">
            <a:avLst>
              <a:gd name="adj" fmla="val 5283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98968" y="3447288"/>
            <a:ext cx="32004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293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−17%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초기 스타트업 투자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6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887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5394960"/>
            <a:ext cx="2377440" cy="23774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-50292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0"/>
            <a:ext cx="10362895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짜놓은 펌웨어가</a:t>
            </a:r>
            <a:endParaRPr lang="en-US" sz="40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회로도를 따라가고 있는지</a:t>
            </a:r>
            <a:endParaRPr lang="en-US" sz="40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검사합니다.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FB0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BFD3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2장의 그 저장소를 그대로 넣었습니다</a:t>
            </a:r>
            <a:endParaRPr lang="en-US" sz="2600" dirty="0"/>
          </a:p>
        </p:txBody>
      </p:sp>
      <p:pic>
        <p:nvPicPr>
          <p:cNvPr id="3" name="Image 0" descr="img_fi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831" y="1280160"/>
            <a:ext cx="7324032" cy="50749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6204A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저장소 — 한 핀에 데이터선 두 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10545775" cy="233172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9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188720" y="2331720"/>
            <a:ext cx="9814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9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U3.15 (I/O5) → </a:t>
            </a:r>
            <a:pPr algn="l" indent="0" marL="0">
              <a:buNone/>
            </a:pPr>
            <a:r>
              <a:rPr lang="en-US" sz="3000" b="1" dirty="0">
                <a:solidFill>
                  <a:srgbClr val="D629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017520"/>
            <a:ext cx="9814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9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U3.15 (I/O7) → </a:t>
            </a:r>
            <a:pPr algn="l" indent="0" marL="0">
              <a:buNone/>
            </a:pPr>
            <a:r>
              <a:rPr lang="en-US" sz="3000" b="1" dirty="0">
                <a:solidFill>
                  <a:srgbClr val="D629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9476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Alireza2317/EEPROM_programmer · CC0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552" y="640080"/>
            <a:ext cx="7022592" cy="49377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6204A">
                <a:alpha val="18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822960" y="614476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경고를 안 내는 것도 기능입니다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궁금해서 실제로 재봤습니다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1463040"/>
            <a:ext cx="9357055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6204A">
                <a:alpha val="12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08760"/>
          <a:ext cx="9265615" cy="2606040"/>
        </p:xfrm>
        <a:graphic>
          <a:graphicData uri="http://schemas.openxmlformats.org/drawingml/2006/table">
            <a:tbl>
              <a:tblPr/>
              <a:tblGrid>
                <a:gridCol w="3335621"/>
                <a:gridCol w="2964997"/>
                <a:gridCol w="2964997"/>
              </a:tblGrid>
              <a:tr h="6515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모델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Prefab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968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91F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읽어낸 보드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E59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 / 28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64D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 / 28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91F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낸 경고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E59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64D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16건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91F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근거를 끝까지 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E59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 / 44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64D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 / 16</a:t>
                      </a:r>
                      <a:endParaRPr lang="en-US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14400" y="4434840"/>
            <a:ext cx="103628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모델은 경고를 세 배 가까이 많이 냈습니다. 그런데 그중 10건은 경고 안에 “확인할 수 없다”가 들어 있었습니다. 받아 든 사람이 다시 확인해야 하면 도구가 아니라 숙제입니다.
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저희보다 잘한 것도 있었습니다. 저희가 못 보던 결함을 하나 찾아냈고, 그래서 규칙으로 만들어 넣었습니다. 방금 두 번째로 보여드린 단락이 그 규칙입니다.
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저희가 파는 건 “AI보다 똑똑하다”가 아니라 </a:t>
            </a:r>
            <a:pPr algn="l" indent="0" marL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1B64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“같은 파일이면 언제나 같은 답”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68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공통점은 </a:t>
            </a:r>
            <a:pPr algn="l" indent="0" marL="0">
              <a:buNone/>
            </a:pPr>
            <a:r>
              <a:rPr lang="en-US" sz="3000" b="1" dirty="0">
                <a:solidFill>
                  <a:srgbClr val="1B64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검토해 줄 사람이 없다는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5168" y="21488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5168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스타트업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49928" y="21488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449928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연구실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44688" y="21488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44688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중소 제조업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R&amp;D팀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대기업에는 회로도를 검토하는 사람이 따로 있습니다. 이 셋에는 없습니다.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 막아도 몇 년치가 회수됩니다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00888" y="141732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9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0088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00888" y="2258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· 개인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66648" y="29260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무제한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링크로 공유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49928" y="141732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EAF1FD"/>
          </a:solidFill>
          <a:ln w="25400">
            <a:solidFill>
              <a:srgbClr val="1B64DA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4992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64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449928" y="2258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개발자 · 소규모 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15688" y="29260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비공개 링크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기록 보관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98968" y="1417320"/>
            <a:ext cx="3291840" cy="3429000"/>
          </a:xfrm>
          <a:prstGeom prst="roundRect">
            <a:avLst>
              <a:gd name="adj" fmla="val 3889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9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98968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198968" y="2258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64728" y="29260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단위 계정</a:t>
            </a:r>
            <a:endParaRPr lang="en-US" sz="1500" dirty="0"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 연동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1208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재작업 한 번이 수천만원입니다. 구독료는 그 백분의 일 수준입니다.
</a:t>
            </a:r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무료로도 검사는 무제한입니다. 판정 원가가 실제로 0에 가깝기 때문입니다 — 판정은 순수한 코드라 AI도 네트워크도 쓰지 않습니다.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회로도는 계속 바뀝니다.
</a:t>
            </a:r>
            <a:pPr algn="l"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1B64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검사도 계속 돌아야 합니다.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10545775" cy="1051560"/>
          </a:xfrm>
          <a:prstGeom prst="roundRect">
            <a:avLst>
              <a:gd name="adj" fmla="val 10435"/>
            </a:avLst>
          </a:prstGeom>
          <a:solidFill>
            <a:srgbClr val="F7F9FC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16204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2514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수정 → PR → 자동 검사 → 어긋나면 빨간불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76472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저희 저장소에서 돌고 있습니다 (.github/workflows/drift.yml)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57200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 보여드린 건 파일을 올려 한 번 검사하는 모습입니다. 하지만 회로도는 계속 바뀝니다.
</a:t>
            </a:r>
            <a:pPr algn="l"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91F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형태는 코드를 고칠 때마다 자동으로 도는 검사입니다. 개발팀이 이미 쓰는 자리에 그대로 들어가고, 이미 저희 저장소에서 돌고 있습니다. 한 번 붙으면 잘 걷어내지 않습니다. </a:t>
            </a:r>
            <a:pPr algn="l" indent="0" marL="0">
              <a:lnSpc>
                <a:spcPct val="138000"/>
              </a:lnSpc>
              <a:buNone/>
            </a:pPr>
            <a:r>
              <a:rPr lang="en-US" sz="1500" b="1" dirty="0">
                <a:solidFill>
                  <a:srgbClr val="1B64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단위 구독이 여기서 나옵니다.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55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7CE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●–○  </a:t>
            </a:r>
            <a:pPr algn="l" indent="0" marL="0">
              <a:buNone/>
            </a:pPr>
            <a:r>
              <a:rPr lang="en-US" sz="1050" b="1" dirty="0">
                <a:solidFill>
                  <a:srgbClr val="A6AE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Prefab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55161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0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64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8872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5394960"/>
            <a:ext cx="2377440" cy="23774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-50292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0"/>
            <a:ext cx="10362895" cy="63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보드를 뽑기 전에 아는 것과
</a:t>
            </a:r>
            <a:pPr algn="ctr" indent="0" marL="0">
              <a:lnSpc>
                <a:spcPct val="12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뽑고 나서 아는 것의 차이가
</a:t>
            </a:r>
            <a:pPr algn="ctr" indent="0" marL="0">
              <a:lnSpc>
                <a:spcPct val="128000"/>
              </a:lnSpc>
              <a:buNone/>
            </a:pPr>
            <a:r>
              <a:rPr lang="en-US" sz="3800" b="1" dirty="0">
                <a:solidFill>
                  <a:srgbClr val="FFD4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6,000만원</a:t>
            </a:r>
            <a:pPr algn="ctr" indent="0" marL="0">
              <a:lnSpc>
                <a:spcPct val="12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TFT_BL     </a:t>
            </a:r>
            <a:pPr algn="l" indent="0" marL="0">
              <a:buNone/>
            </a:pPr>
            <a:r>
              <a:rPr lang="en-US" sz="1200" b="1" dirty="0">
                <a:solidFill>
                  <a:srgbClr val="8FE8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pPr algn="l" indent="0" marL="0">
              <a:buNone/>
            </a:pPr>
            <a:r>
              <a:rPr lang="en-US" sz="1200" dirty="0">
                <a:solidFill>
                  <a:srgbClr val="CFE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#define TFT_BL_PIN </a:t>
            </a:r>
            <a:pPr algn="l" indent="0" marL="0">
              <a:buNone/>
            </a:pPr>
            <a:r>
              <a:rPr lang="en-US" sz="1200" b="1" dirty="0">
                <a:solidFill>
                  <a:srgbClr val="FFB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51215" y="6400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0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https://prefab-web.onrender.com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2026-08-26T09:58:31Z</dcterms:created>
  <dcterms:modified xsi:type="dcterms:W3CDTF">2026-08-26T09:58:31Z</dcterms:modified>
</cp:coreProperties>
</file>