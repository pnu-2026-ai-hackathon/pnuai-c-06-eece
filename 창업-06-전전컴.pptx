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5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</p:sldIdLst>
  <p:sldSz cx="21599525" cy="323992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C"/>
    <a:srgbClr val="000517"/>
    <a:srgbClr val="002A6E"/>
    <a:srgbClr val="004180"/>
    <a:srgbClr val="006395"/>
    <a:srgbClr val="000000"/>
    <a:srgbClr val="FFF34C"/>
    <a:srgbClr val="F7F7F7"/>
    <a:srgbClr val="007AE7"/>
    <a:srgbClr val="00B8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65" autoAdjust="0"/>
    <p:restoredTop sz="94737"/>
  </p:normalViewPr>
  <p:slideViewPr>
    <p:cSldViewPr snapToGrid="0" snapToObjects="1">
      <p:cViewPr>
        <p:scale>
          <a:sx n="63" d="100"/>
          <a:sy n="63" d="100"/>
        </p:scale>
        <p:origin x="20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19965" y="5302386"/>
            <a:ext cx="18359596" cy="11279752"/>
          </a:xfrm>
        </p:spPr>
        <p:txBody>
          <a:bodyPr anchor="b"/>
          <a:lstStyle>
            <a:lvl1pPr algn="ctr">
              <a:defRPr sz="1417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9941" y="17017128"/>
            <a:ext cx="16199644" cy="7822326"/>
          </a:xfrm>
        </p:spPr>
        <p:txBody>
          <a:bodyPr/>
          <a:lstStyle>
            <a:lvl1pPr marL="0" indent="0" algn="ctr">
              <a:buNone/>
              <a:defRPr sz="5669"/>
            </a:lvl1pPr>
            <a:lvl2pPr marL="1079998" indent="0" algn="ctr">
              <a:buNone/>
              <a:defRPr sz="4724"/>
            </a:lvl2pPr>
            <a:lvl3pPr marL="2159996" indent="0" algn="ctr">
              <a:buNone/>
              <a:defRPr sz="4252"/>
            </a:lvl3pPr>
            <a:lvl4pPr marL="3239994" indent="0" algn="ctr">
              <a:buNone/>
              <a:defRPr sz="3780"/>
            </a:lvl4pPr>
            <a:lvl5pPr marL="4319991" indent="0" algn="ctr">
              <a:buNone/>
              <a:defRPr sz="3780"/>
            </a:lvl5pPr>
            <a:lvl6pPr marL="5399989" indent="0" algn="ctr">
              <a:buNone/>
              <a:defRPr sz="3780"/>
            </a:lvl6pPr>
            <a:lvl7pPr marL="6479987" indent="0" algn="ctr">
              <a:buNone/>
              <a:defRPr sz="3780"/>
            </a:lvl7pPr>
            <a:lvl8pPr marL="7559985" indent="0" algn="ctr">
              <a:buNone/>
              <a:defRPr sz="3780"/>
            </a:lvl8pPr>
            <a:lvl9pPr marL="8639983" indent="0" algn="ctr">
              <a:buNone/>
              <a:defRPr sz="378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14B9C-E907-DE49-9C7D-16AAC677FB9B}" type="datetimeFigureOut">
              <a:rPr kumimoji="1" lang="ko-KR" altLang="en-US" smtClean="0"/>
              <a:t>2026-08-14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848C2-3B16-C345-ADD9-58AEE8D2B17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31778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14B9C-E907-DE49-9C7D-16AAC677FB9B}" type="datetimeFigureOut">
              <a:rPr kumimoji="1" lang="ko-KR" altLang="en-US" smtClean="0"/>
              <a:t>2026-08-14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848C2-3B16-C345-ADD9-58AEE8D2B17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84284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719" y="8077332"/>
            <a:ext cx="18629590" cy="13477201"/>
          </a:xfrm>
        </p:spPr>
        <p:txBody>
          <a:bodyPr anchor="b"/>
          <a:lstStyle>
            <a:lvl1pPr>
              <a:defRPr sz="1417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719" y="21682033"/>
            <a:ext cx="18629590" cy="7087342"/>
          </a:xfrm>
        </p:spPr>
        <p:txBody>
          <a:bodyPr/>
          <a:lstStyle>
            <a:lvl1pPr marL="0" indent="0">
              <a:buNone/>
              <a:defRPr sz="5669">
                <a:solidFill>
                  <a:schemeClr val="tx1"/>
                </a:solidFill>
              </a:defRPr>
            </a:lvl1pPr>
            <a:lvl2pPr marL="1079998" indent="0">
              <a:buNone/>
              <a:defRPr sz="4724">
                <a:solidFill>
                  <a:schemeClr val="tx1">
                    <a:tint val="75000"/>
                  </a:schemeClr>
                </a:solidFill>
              </a:defRPr>
            </a:lvl2pPr>
            <a:lvl3pPr marL="2159996" indent="0">
              <a:buNone/>
              <a:defRPr sz="4252">
                <a:solidFill>
                  <a:schemeClr val="tx1">
                    <a:tint val="75000"/>
                  </a:schemeClr>
                </a:solidFill>
              </a:defRPr>
            </a:lvl3pPr>
            <a:lvl4pPr marL="3239994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4pPr>
            <a:lvl5pPr marL="4319991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5pPr>
            <a:lvl6pPr marL="5399989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6pPr>
            <a:lvl7pPr marL="6479987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7pPr>
            <a:lvl8pPr marL="7559985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8pPr>
            <a:lvl9pPr marL="8639983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14B9C-E907-DE49-9C7D-16AAC677FB9B}" type="datetimeFigureOut">
              <a:rPr kumimoji="1" lang="ko-KR" altLang="en-US" smtClean="0"/>
              <a:t>2026-08-14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848C2-3B16-C345-ADD9-58AEE8D2B17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26216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967" y="8624810"/>
            <a:ext cx="9179798" cy="2055705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4760" y="8624810"/>
            <a:ext cx="9179798" cy="2055705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14B9C-E907-DE49-9C7D-16AAC677FB9B}" type="datetimeFigureOut">
              <a:rPr kumimoji="1" lang="ko-KR" altLang="en-US" smtClean="0"/>
              <a:t>2026-08-14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848C2-3B16-C345-ADD9-58AEE8D2B17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01980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1724969"/>
            <a:ext cx="18629590" cy="626236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783" y="7942328"/>
            <a:ext cx="9137610" cy="3892412"/>
          </a:xfrm>
        </p:spPr>
        <p:txBody>
          <a:bodyPr anchor="b"/>
          <a:lstStyle>
            <a:lvl1pPr marL="0" indent="0">
              <a:buNone/>
              <a:defRPr sz="5669" b="1"/>
            </a:lvl1pPr>
            <a:lvl2pPr marL="1079998" indent="0">
              <a:buNone/>
              <a:defRPr sz="4724" b="1"/>
            </a:lvl2pPr>
            <a:lvl3pPr marL="2159996" indent="0">
              <a:buNone/>
              <a:defRPr sz="4252" b="1"/>
            </a:lvl3pPr>
            <a:lvl4pPr marL="3239994" indent="0">
              <a:buNone/>
              <a:defRPr sz="3780" b="1"/>
            </a:lvl4pPr>
            <a:lvl5pPr marL="4319991" indent="0">
              <a:buNone/>
              <a:defRPr sz="3780" b="1"/>
            </a:lvl5pPr>
            <a:lvl6pPr marL="5399989" indent="0">
              <a:buNone/>
              <a:defRPr sz="3780" b="1"/>
            </a:lvl6pPr>
            <a:lvl7pPr marL="6479987" indent="0">
              <a:buNone/>
              <a:defRPr sz="3780" b="1"/>
            </a:lvl7pPr>
            <a:lvl8pPr marL="7559985" indent="0">
              <a:buNone/>
              <a:defRPr sz="3780" b="1"/>
            </a:lvl8pPr>
            <a:lvl9pPr marL="8639983" indent="0">
              <a:buNone/>
              <a:defRPr sz="378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7783" y="11834740"/>
            <a:ext cx="9137610" cy="1740712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4761" y="7942328"/>
            <a:ext cx="9182611" cy="3892412"/>
          </a:xfrm>
        </p:spPr>
        <p:txBody>
          <a:bodyPr anchor="b"/>
          <a:lstStyle>
            <a:lvl1pPr marL="0" indent="0">
              <a:buNone/>
              <a:defRPr sz="5669" b="1"/>
            </a:lvl1pPr>
            <a:lvl2pPr marL="1079998" indent="0">
              <a:buNone/>
              <a:defRPr sz="4724" b="1"/>
            </a:lvl2pPr>
            <a:lvl3pPr marL="2159996" indent="0">
              <a:buNone/>
              <a:defRPr sz="4252" b="1"/>
            </a:lvl3pPr>
            <a:lvl4pPr marL="3239994" indent="0">
              <a:buNone/>
              <a:defRPr sz="3780" b="1"/>
            </a:lvl4pPr>
            <a:lvl5pPr marL="4319991" indent="0">
              <a:buNone/>
              <a:defRPr sz="3780" b="1"/>
            </a:lvl5pPr>
            <a:lvl6pPr marL="5399989" indent="0">
              <a:buNone/>
              <a:defRPr sz="3780" b="1"/>
            </a:lvl6pPr>
            <a:lvl7pPr marL="6479987" indent="0">
              <a:buNone/>
              <a:defRPr sz="3780" b="1"/>
            </a:lvl7pPr>
            <a:lvl8pPr marL="7559985" indent="0">
              <a:buNone/>
              <a:defRPr sz="3780" b="1"/>
            </a:lvl8pPr>
            <a:lvl9pPr marL="8639983" indent="0">
              <a:buNone/>
              <a:defRPr sz="378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4761" y="11834740"/>
            <a:ext cx="9182611" cy="1740712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14B9C-E907-DE49-9C7D-16AAC677FB9B}" type="datetimeFigureOut">
              <a:rPr kumimoji="1" lang="ko-KR" altLang="en-US" smtClean="0"/>
              <a:t>2026-08-14</a:t>
            </a:fld>
            <a:endParaRPr kumimoji="1"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848C2-3B16-C345-ADD9-58AEE8D2B17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03477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14B9C-E907-DE49-9C7D-16AAC677FB9B}" type="datetimeFigureOut">
              <a:rPr kumimoji="1" lang="ko-KR" altLang="en-US" smtClean="0"/>
              <a:t>2026-08-14</a:t>
            </a:fld>
            <a:endParaRPr kumimoji="1"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848C2-3B16-C345-ADD9-58AEE8D2B17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08794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14B9C-E907-DE49-9C7D-16AAC677FB9B}" type="datetimeFigureOut">
              <a:rPr kumimoji="1" lang="ko-KR" altLang="en-US" smtClean="0"/>
              <a:t>2026-08-14</a:t>
            </a:fld>
            <a:endParaRPr kumimoji="1"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848C2-3B16-C345-ADD9-58AEE8D2B17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68168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2159952"/>
            <a:ext cx="6966409" cy="7559834"/>
          </a:xfrm>
        </p:spPr>
        <p:txBody>
          <a:bodyPr anchor="b"/>
          <a:lstStyle>
            <a:lvl1pPr>
              <a:defRPr sz="755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2611" y="4664905"/>
            <a:ext cx="10934760" cy="23024494"/>
          </a:xfrm>
        </p:spPr>
        <p:txBody>
          <a:bodyPr/>
          <a:lstStyle>
            <a:lvl1pPr>
              <a:defRPr sz="7559"/>
            </a:lvl1pPr>
            <a:lvl2pPr>
              <a:defRPr sz="6614"/>
            </a:lvl2pPr>
            <a:lvl3pPr>
              <a:defRPr sz="5669"/>
            </a:lvl3pPr>
            <a:lvl4pPr>
              <a:defRPr sz="4724"/>
            </a:lvl4pPr>
            <a:lvl5pPr>
              <a:defRPr sz="4724"/>
            </a:lvl5pPr>
            <a:lvl6pPr>
              <a:defRPr sz="4724"/>
            </a:lvl6pPr>
            <a:lvl7pPr>
              <a:defRPr sz="4724"/>
            </a:lvl7pPr>
            <a:lvl8pPr>
              <a:defRPr sz="4724"/>
            </a:lvl8pPr>
            <a:lvl9pPr>
              <a:defRPr sz="472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1" y="9719786"/>
            <a:ext cx="6966409" cy="18007107"/>
          </a:xfrm>
        </p:spPr>
        <p:txBody>
          <a:bodyPr/>
          <a:lstStyle>
            <a:lvl1pPr marL="0" indent="0">
              <a:buNone/>
              <a:defRPr sz="3780"/>
            </a:lvl1pPr>
            <a:lvl2pPr marL="1079998" indent="0">
              <a:buNone/>
              <a:defRPr sz="3307"/>
            </a:lvl2pPr>
            <a:lvl3pPr marL="2159996" indent="0">
              <a:buNone/>
              <a:defRPr sz="2835"/>
            </a:lvl3pPr>
            <a:lvl4pPr marL="3239994" indent="0">
              <a:buNone/>
              <a:defRPr sz="2362"/>
            </a:lvl4pPr>
            <a:lvl5pPr marL="4319991" indent="0">
              <a:buNone/>
              <a:defRPr sz="2362"/>
            </a:lvl5pPr>
            <a:lvl6pPr marL="5399989" indent="0">
              <a:buNone/>
              <a:defRPr sz="2362"/>
            </a:lvl6pPr>
            <a:lvl7pPr marL="6479987" indent="0">
              <a:buNone/>
              <a:defRPr sz="2362"/>
            </a:lvl7pPr>
            <a:lvl8pPr marL="7559985" indent="0">
              <a:buNone/>
              <a:defRPr sz="2362"/>
            </a:lvl8pPr>
            <a:lvl9pPr marL="8639983" indent="0">
              <a:buNone/>
              <a:defRPr sz="2362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14B9C-E907-DE49-9C7D-16AAC677FB9B}" type="datetimeFigureOut">
              <a:rPr kumimoji="1" lang="ko-KR" altLang="en-US" smtClean="0"/>
              <a:t>2026-08-14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848C2-3B16-C345-ADD9-58AEE8D2B17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83857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2159952"/>
            <a:ext cx="6966409" cy="7559834"/>
          </a:xfrm>
        </p:spPr>
        <p:txBody>
          <a:bodyPr anchor="b"/>
          <a:lstStyle>
            <a:lvl1pPr>
              <a:defRPr sz="755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2611" y="4664905"/>
            <a:ext cx="10934760" cy="23024494"/>
          </a:xfrm>
        </p:spPr>
        <p:txBody>
          <a:bodyPr anchor="t"/>
          <a:lstStyle>
            <a:lvl1pPr marL="0" indent="0">
              <a:buNone/>
              <a:defRPr sz="7559"/>
            </a:lvl1pPr>
            <a:lvl2pPr marL="1079998" indent="0">
              <a:buNone/>
              <a:defRPr sz="6614"/>
            </a:lvl2pPr>
            <a:lvl3pPr marL="2159996" indent="0">
              <a:buNone/>
              <a:defRPr sz="5669"/>
            </a:lvl3pPr>
            <a:lvl4pPr marL="3239994" indent="0">
              <a:buNone/>
              <a:defRPr sz="4724"/>
            </a:lvl4pPr>
            <a:lvl5pPr marL="4319991" indent="0">
              <a:buNone/>
              <a:defRPr sz="4724"/>
            </a:lvl5pPr>
            <a:lvl6pPr marL="5399989" indent="0">
              <a:buNone/>
              <a:defRPr sz="4724"/>
            </a:lvl6pPr>
            <a:lvl7pPr marL="6479987" indent="0">
              <a:buNone/>
              <a:defRPr sz="4724"/>
            </a:lvl7pPr>
            <a:lvl8pPr marL="7559985" indent="0">
              <a:buNone/>
              <a:defRPr sz="4724"/>
            </a:lvl8pPr>
            <a:lvl9pPr marL="8639983" indent="0">
              <a:buNone/>
              <a:defRPr sz="4724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1" y="9719786"/>
            <a:ext cx="6966409" cy="18007107"/>
          </a:xfrm>
        </p:spPr>
        <p:txBody>
          <a:bodyPr/>
          <a:lstStyle>
            <a:lvl1pPr marL="0" indent="0">
              <a:buNone/>
              <a:defRPr sz="3780"/>
            </a:lvl1pPr>
            <a:lvl2pPr marL="1079998" indent="0">
              <a:buNone/>
              <a:defRPr sz="3307"/>
            </a:lvl2pPr>
            <a:lvl3pPr marL="2159996" indent="0">
              <a:buNone/>
              <a:defRPr sz="2835"/>
            </a:lvl3pPr>
            <a:lvl4pPr marL="3239994" indent="0">
              <a:buNone/>
              <a:defRPr sz="2362"/>
            </a:lvl4pPr>
            <a:lvl5pPr marL="4319991" indent="0">
              <a:buNone/>
              <a:defRPr sz="2362"/>
            </a:lvl5pPr>
            <a:lvl6pPr marL="5399989" indent="0">
              <a:buNone/>
              <a:defRPr sz="2362"/>
            </a:lvl6pPr>
            <a:lvl7pPr marL="6479987" indent="0">
              <a:buNone/>
              <a:defRPr sz="2362"/>
            </a:lvl7pPr>
            <a:lvl8pPr marL="7559985" indent="0">
              <a:buNone/>
              <a:defRPr sz="2362"/>
            </a:lvl8pPr>
            <a:lvl9pPr marL="8639983" indent="0">
              <a:buNone/>
              <a:defRPr sz="2362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14B9C-E907-DE49-9C7D-16AAC677FB9B}" type="datetimeFigureOut">
              <a:rPr kumimoji="1" lang="ko-KR" altLang="en-US" smtClean="0"/>
              <a:t>2026-08-14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848C2-3B16-C345-ADD9-58AEE8D2B17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01990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14B9C-E907-DE49-9C7D-16AAC677FB9B}" type="datetimeFigureOut">
              <a:rPr kumimoji="1" lang="ko-KR" altLang="en-US" smtClean="0"/>
              <a:t>2026-08-14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848C2-3B16-C345-ADD9-58AEE8D2B17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59514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57161" y="1724962"/>
            <a:ext cx="4657398" cy="2745689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968" y="1724962"/>
            <a:ext cx="13702199" cy="2745689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14B9C-E907-DE49-9C7D-16AAC677FB9B}" type="datetimeFigureOut">
              <a:rPr kumimoji="1" lang="ko-KR" altLang="en-US" smtClean="0"/>
              <a:t>2026-08-14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848C2-3B16-C345-ADD9-58AEE8D2B17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7079197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968" y="1724969"/>
            <a:ext cx="18629590" cy="62623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968" y="8624810"/>
            <a:ext cx="18629590" cy="205570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4967" y="30029347"/>
            <a:ext cx="4859893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914B9C-E907-DE49-9C7D-16AAC677FB9B}" type="datetimeFigureOut">
              <a:rPr kumimoji="1" lang="ko-KR" altLang="en-US" smtClean="0"/>
              <a:t>2026-08-14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4843" y="30029347"/>
            <a:ext cx="7289840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4665" y="30029347"/>
            <a:ext cx="4859893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2848C2-3B16-C345-ADD9-58AEE8D2B17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82398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159996" rtl="0" eaLnBrk="1" latinLnBrk="1" hangingPunct="1">
        <a:lnSpc>
          <a:spcPct val="90000"/>
        </a:lnSpc>
        <a:spcBef>
          <a:spcPct val="0"/>
        </a:spcBef>
        <a:buNone/>
        <a:defRPr sz="1039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9999" indent="-539999" algn="l" defTabSz="2159996" rtl="0" eaLnBrk="1" latinLnBrk="1" hangingPunct="1">
        <a:lnSpc>
          <a:spcPct val="90000"/>
        </a:lnSpc>
        <a:spcBef>
          <a:spcPts val="2362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1pPr>
      <a:lvl2pPr marL="1619997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2pPr>
      <a:lvl3pPr marL="2699995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724" kern="1200">
          <a:solidFill>
            <a:schemeClr val="tx1"/>
          </a:solidFill>
          <a:latin typeface="+mn-lt"/>
          <a:ea typeface="+mn-ea"/>
          <a:cs typeface="+mn-cs"/>
        </a:defRPr>
      </a:lvl3pPr>
      <a:lvl4pPr marL="3779992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4pPr>
      <a:lvl5pPr marL="4859990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5pPr>
      <a:lvl6pPr marL="5939988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6pPr>
      <a:lvl7pPr marL="7019986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7pPr>
      <a:lvl8pPr marL="8099984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8pPr>
      <a:lvl9pPr marL="9179982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2pPr>
      <a:lvl3pPr marL="2159996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3pPr>
      <a:lvl4pPr marL="3239994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4pPr>
      <a:lvl5pPr marL="4319991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5pPr>
      <a:lvl6pPr marL="5399989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6pPr>
      <a:lvl7pPr marL="6479987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7pPr>
      <a:lvl8pPr marL="7559985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8pPr>
      <a:lvl9pPr marL="8639983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래픽 4">
            <a:extLst>
              <a:ext uri="{FF2B5EF4-FFF2-40B4-BE49-F238E27FC236}">
                <a16:creationId xmlns:a16="http://schemas.microsoft.com/office/drawing/2014/main" id="{1C23F831-DA9B-4B6A-ADB7-3C99C42D8DE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25663"/>
          <a:stretch/>
        </p:blipFill>
        <p:spPr>
          <a:xfrm rot="16200000">
            <a:off x="8192333" y="-8261608"/>
            <a:ext cx="5145583" cy="21668796"/>
          </a:xfrm>
          <a:prstGeom prst="rect">
            <a:avLst/>
          </a:prstGeom>
        </p:spPr>
      </p:pic>
      <p:sp>
        <p:nvSpPr>
          <p:cNvPr id="28" name="양쪽 모서리가 둥근 사각형 27">
            <a:extLst>
              <a:ext uri="{FF2B5EF4-FFF2-40B4-BE49-F238E27FC236}">
                <a16:creationId xmlns:a16="http://schemas.microsoft.com/office/drawing/2014/main" id="{3FC8A020-BAD2-174E-8E17-51A3821E5FA5}"/>
              </a:ext>
            </a:extLst>
          </p:cNvPr>
          <p:cNvSpPr/>
          <p:nvPr/>
        </p:nvSpPr>
        <p:spPr>
          <a:xfrm rot="5400000">
            <a:off x="8488569" y="-1638417"/>
            <a:ext cx="1664885" cy="16284900"/>
          </a:xfrm>
          <a:prstGeom prst="round2SameRect">
            <a:avLst/>
          </a:prstGeom>
          <a:solidFill>
            <a:srgbClr val="F7F7F7"/>
          </a:solidFill>
          <a:ln>
            <a:noFill/>
          </a:ln>
          <a:effectLst>
            <a:outerShdw blurRad="348304" dist="133471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4C34D82C-957B-3643-A70C-00E1D4358A2A}"/>
              </a:ext>
            </a:extLst>
          </p:cNvPr>
          <p:cNvGrpSpPr/>
          <p:nvPr/>
        </p:nvGrpSpPr>
        <p:grpSpPr>
          <a:xfrm>
            <a:off x="1767635" y="5977189"/>
            <a:ext cx="718070" cy="827931"/>
            <a:chOff x="2690948" y="8438606"/>
            <a:chExt cx="2821577" cy="3253264"/>
          </a:xfrm>
          <a:solidFill>
            <a:schemeClr val="tx1">
              <a:lumMod val="50000"/>
              <a:lumOff val="50000"/>
              <a:alpha val="63879"/>
            </a:schemeClr>
          </a:solidFill>
        </p:grpSpPr>
        <p:sp>
          <p:nvSpPr>
            <p:cNvPr id="18" name="모서리가 둥근 직사각형 17">
              <a:extLst>
                <a:ext uri="{FF2B5EF4-FFF2-40B4-BE49-F238E27FC236}">
                  <a16:creationId xmlns:a16="http://schemas.microsoft.com/office/drawing/2014/main" id="{A3C59623-1FD3-E64E-8131-F61BCB100A96}"/>
                </a:ext>
              </a:extLst>
            </p:cNvPr>
            <p:cNvSpPr/>
            <p:nvPr/>
          </p:nvSpPr>
          <p:spPr>
            <a:xfrm rot="2700000">
              <a:off x="2690949" y="9457509"/>
              <a:ext cx="2821577" cy="783771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9" name="모서리가 둥근 직사각형 18">
              <a:extLst>
                <a:ext uri="{FF2B5EF4-FFF2-40B4-BE49-F238E27FC236}">
                  <a16:creationId xmlns:a16="http://schemas.microsoft.com/office/drawing/2014/main" id="{C20CA34A-192B-E34E-B223-8DDDF322D65E}"/>
                </a:ext>
              </a:extLst>
            </p:cNvPr>
            <p:cNvSpPr/>
            <p:nvPr/>
          </p:nvSpPr>
          <p:spPr>
            <a:xfrm rot="18900000">
              <a:off x="2690948" y="10908099"/>
              <a:ext cx="2821577" cy="783771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sp>
        <p:nvSpPr>
          <p:cNvPr id="29" name="양쪽 모서리가 둥근 사각형 28">
            <a:extLst>
              <a:ext uri="{FF2B5EF4-FFF2-40B4-BE49-F238E27FC236}">
                <a16:creationId xmlns:a16="http://schemas.microsoft.com/office/drawing/2014/main" id="{D00A37E1-1649-C844-84F8-2CD469C58870}"/>
              </a:ext>
            </a:extLst>
          </p:cNvPr>
          <p:cNvSpPr/>
          <p:nvPr/>
        </p:nvSpPr>
        <p:spPr>
          <a:xfrm rot="5400000">
            <a:off x="8488568" y="10910824"/>
            <a:ext cx="1664885" cy="16284900"/>
          </a:xfrm>
          <a:prstGeom prst="round2SameRect">
            <a:avLst/>
          </a:prstGeom>
          <a:solidFill>
            <a:srgbClr val="F7F7F7"/>
          </a:solidFill>
          <a:ln>
            <a:noFill/>
          </a:ln>
          <a:effectLst>
            <a:outerShdw blurRad="348304" dist="133471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6BF1F528-811E-034B-B13C-162388A69936}"/>
              </a:ext>
            </a:extLst>
          </p:cNvPr>
          <p:cNvGrpSpPr/>
          <p:nvPr/>
        </p:nvGrpSpPr>
        <p:grpSpPr>
          <a:xfrm>
            <a:off x="1767634" y="18526430"/>
            <a:ext cx="718070" cy="827931"/>
            <a:chOff x="2690948" y="8438606"/>
            <a:chExt cx="2821577" cy="3253264"/>
          </a:xfrm>
          <a:solidFill>
            <a:schemeClr val="tx1">
              <a:lumMod val="50000"/>
              <a:lumOff val="50000"/>
              <a:alpha val="63879"/>
            </a:schemeClr>
          </a:solidFill>
        </p:grpSpPr>
        <p:sp>
          <p:nvSpPr>
            <p:cNvPr id="31" name="모서리가 둥근 직사각형 30">
              <a:extLst>
                <a:ext uri="{FF2B5EF4-FFF2-40B4-BE49-F238E27FC236}">
                  <a16:creationId xmlns:a16="http://schemas.microsoft.com/office/drawing/2014/main" id="{421D4715-B676-634A-BAEA-2CBDC671806E}"/>
                </a:ext>
              </a:extLst>
            </p:cNvPr>
            <p:cNvSpPr/>
            <p:nvPr/>
          </p:nvSpPr>
          <p:spPr>
            <a:xfrm rot="2700000">
              <a:off x="2690949" y="9457509"/>
              <a:ext cx="2821577" cy="783771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2" name="모서리가 둥근 직사각형 31">
              <a:extLst>
                <a:ext uri="{FF2B5EF4-FFF2-40B4-BE49-F238E27FC236}">
                  <a16:creationId xmlns:a16="http://schemas.microsoft.com/office/drawing/2014/main" id="{39A46EB4-F74D-7F4F-85A6-41C3BEB2616B}"/>
                </a:ext>
              </a:extLst>
            </p:cNvPr>
            <p:cNvSpPr/>
            <p:nvPr/>
          </p:nvSpPr>
          <p:spPr>
            <a:xfrm rot="18900000">
              <a:off x="2690948" y="10908099"/>
              <a:ext cx="2821577" cy="783771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77065441-85E2-1647-866C-9C5BA09E71FF}"/>
              </a:ext>
            </a:extLst>
          </p:cNvPr>
          <p:cNvSpPr txBox="1"/>
          <p:nvPr/>
        </p:nvSpPr>
        <p:spPr>
          <a:xfrm>
            <a:off x="2664000" y="6264000"/>
            <a:ext cx="11196000" cy="108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4800" b="1">
                <a:solidFill>
                  <a:srgbClr val="1A1A1A"/>
                </a:solidFill>
              </a:rPr>
              <a:t>컴파일도 되고, 업로드도 됩니다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EB040C5-CA62-E14A-9FDF-3CE7B44C9B45}"/>
              </a:ext>
            </a:extLst>
          </p:cNvPr>
          <p:cNvSpPr txBox="1"/>
          <p:nvPr/>
        </p:nvSpPr>
        <p:spPr>
          <a:xfrm>
            <a:off x="2664000" y="18756000"/>
            <a:ext cx="11196000" cy="108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4800" b="1">
                <a:solidFill>
                  <a:srgbClr val="1A1A1A"/>
                </a:solidFill>
              </a:rPr>
              <a:t>코드까지 보는 도구가 없었습니다</a:t>
            </a:r>
          </a:p>
        </p:txBody>
      </p:sp>
      <p:sp>
        <p:nvSpPr>
          <p:cNvPr id="11" name="사다리꼴[T] 3">
            <a:extLst>
              <a:ext uri="{FF2B5EF4-FFF2-40B4-BE49-F238E27FC236}">
                <a16:creationId xmlns:a16="http://schemas.microsoft.com/office/drawing/2014/main" id="{5B9755EA-4946-AB4A-BB42-79A2AA3D592E}"/>
              </a:ext>
            </a:extLst>
          </p:cNvPr>
          <p:cNvSpPr/>
          <p:nvPr/>
        </p:nvSpPr>
        <p:spPr>
          <a:xfrm rot="10800000">
            <a:off x="-34639" y="2233589"/>
            <a:ext cx="21599525" cy="2904229"/>
          </a:xfrm>
          <a:custGeom>
            <a:avLst/>
            <a:gdLst>
              <a:gd name="connsiteX0" fmla="*/ 0 w 21599525"/>
              <a:gd name="connsiteY0" fmla="*/ 2904229 h 2904229"/>
              <a:gd name="connsiteX1" fmla="*/ 0 w 21599525"/>
              <a:gd name="connsiteY1" fmla="*/ 0 h 2904229"/>
              <a:gd name="connsiteX2" fmla="*/ 21599525 w 21599525"/>
              <a:gd name="connsiteY2" fmla="*/ 0 h 2904229"/>
              <a:gd name="connsiteX3" fmla="*/ 21599525 w 21599525"/>
              <a:gd name="connsiteY3" fmla="*/ 2904229 h 2904229"/>
              <a:gd name="connsiteX4" fmla="*/ 0 w 21599525"/>
              <a:gd name="connsiteY4" fmla="*/ 2904229 h 2904229"/>
              <a:gd name="connsiteX0" fmla="*/ 4127157 w 21599525"/>
              <a:gd name="connsiteY0" fmla="*/ 2904229 h 2904229"/>
              <a:gd name="connsiteX1" fmla="*/ 0 w 21599525"/>
              <a:gd name="connsiteY1" fmla="*/ 0 h 2904229"/>
              <a:gd name="connsiteX2" fmla="*/ 21599525 w 21599525"/>
              <a:gd name="connsiteY2" fmla="*/ 0 h 2904229"/>
              <a:gd name="connsiteX3" fmla="*/ 21599525 w 21599525"/>
              <a:gd name="connsiteY3" fmla="*/ 2904229 h 2904229"/>
              <a:gd name="connsiteX4" fmla="*/ 4127157 w 21599525"/>
              <a:gd name="connsiteY4" fmla="*/ 2904229 h 2904229"/>
              <a:gd name="connsiteX0" fmla="*/ 3093227 w 21599525"/>
              <a:gd name="connsiteY0" fmla="*/ 2904229 h 2904229"/>
              <a:gd name="connsiteX1" fmla="*/ 0 w 21599525"/>
              <a:gd name="connsiteY1" fmla="*/ 0 h 2904229"/>
              <a:gd name="connsiteX2" fmla="*/ 21599525 w 21599525"/>
              <a:gd name="connsiteY2" fmla="*/ 0 h 2904229"/>
              <a:gd name="connsiteX3" fmla="*/ 21599525 w 21599525"/>
              <a:gd name="connsiteY3" fmla="*/ 2904229 h 2904229"/>
              <a:gd name="connsiteX4" fmla="*/ 3093227 w 21599525"/>
              <a:gd name="connsiteY4" fmla="*/ 2904229 h 2904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599525" h="2904229">
                <a:moveTo>
                  <a:pt x="3093227" y="2904229"/>
                </a:moveTo>
                <a:lnTo>
                  <a:pt x="0" y="0"/>
                </a:lnTo>
                <a:lnTo>
                  <a:pt x="21599525" y="0"/>
                </a:lnTo>
                <a:lnTo>
                  <a:pt x="21599525" y="2904229"/>
                </a:lnTo>
                <a:lnTo>
                  <a:pt x="3093227" y="2904229"/>
                </a:lnTo>
                <a:close/>
              </a:path>
            </a:pathLst>
          </a:custGeom>
          <a:gradFill flip="none" rotWithShape="1">
            <a:gsLst>
              <a:gs pos="15000">
                <a:srgbClr val="004180">
                  <a:alpha val="51000"/>
                </a:srgbClr>
              </a:gs>
              <a:gs pos="59000">
                <a:srgbClr val="00000C"/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2" name="삼각형 11">
            <a:extLst>
              <a:ext uri="{FF2B5EF4-FFF2-40B4-BE49-F238E27FC236}">
                <a16:creationId xmlns:a16="http://schemas.microsoft.com/office/drawing/2014/main" id="{7F25AC1F-B848-484B-8100-D1B3AC77A7D0}"/>
              </a:ext>
            </a:extLst>
          </p:cNvPr>
          <p:cNvSpPr/>
          <p:nvPr/>
        </p:nvSpPr>
        <p:spPr>
          <a:xfrm rot="10800000">
            <a:off x="17599023" y="5114915"/>
            <a:ext cx="4000502" cy="3829741"/>
          </a:xfrm>
          <a:prstGeom prst="triangle">
            <a:avLst>
              <a:gd name="adj" fmla="val 0"/>
            </a:avLst>
          </a:prstGeom>
          <a:gradFill>
            <a:gsLst>
              <a:gs pos="21000">
                <a:srgbClr val="000517"/>
              </a:gs>
              <a:gs pos="86000">
                <a:srgbClr val="002A6E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0D2C4A-4A48-7842-A75F-A117924B5E3E}"/>
              </a:ext>
            </a:extLst>
          </p:cNvPr>
          <p:cNvSpPr txBox="1"/>
          <p:nvPr/>
        </p:nvSpPr>
        <p:spPr>
          <a:xfrm>
            <a:off x="1044000" y="3780000"/>
            <a:ext cx="16560000" cy="936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3900">
                <a:solidFill>
                  <a:srgbClr val="FFFFFF"/>
                </a:solidFill>
              </a:rPr>
              <a:t>[창업] 06. 전전컴 / 박강현, 조우진, 유동훈, 한지양, 권지효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E74601-CAE8-4614-AA5F-18D3F0D8F3E6}"/>
              </a:ext>
            </a:extLst>
          </p:cNvPr>
          <p:cNvSpPr txBox="1"/>
          <p:nvPr/>
        </p:nvSpPr>
        <p:spPr>
          <a:xfrm>
            <a:off x="1044000" y="2376000"/>
            <a:ext cx="16920000" cy="115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5700" b="1">
                <a:solidFill>
                  <a:srgbClr val="FFFFFF"/>
                </a:solidFill>
              </a:rPr>
              <a:t>발주 전에 잡는 펌웨어–회로도 불일치 검사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803821-3044-2A09-61BC-D25090584DED}"/>
              </a:ext>
            </a:extLst>
          </p:cNvPr>
          <p:cNvSpPr txBox="1"/>
          <p:nvPr/>
        </p:nvSpPr>
        <p:spPr>
          <a:xfrm>
            <a:off x="14257773" y="5797225"/>
            <a:ext cx="26498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Background</a:t>
            </a:r>
            <a:endParaRPr kumimoji="1" lang="ko-KR" altLang="en-US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5B051E-3EF7-757D-5323-33A5983D68C0}"/>
              </a:ext>
            </a:extLst>
          </p:cNvPr>
          <p:cNvSpPr txBox="1"/>
          <p:nvPr/>
        </p:nvSpPr>
        <p:spPr>
          <a:xfrm>
            <a:off x="14964696" y="18435107"/>
            <a:ext cx="19429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Problem</a:t>
            </a:r>
            <a:endParaRPr kumimoji="1" lang="ko-KR" altLang="en-US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46AF5D3C-DEF0-4B64-B276-6043C97230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63274" y="748736"/>
            <a:ext cx="3160396" cy="1055692"/>
          </a:xfrm>
          <a:prstGeom prst="rect">
            <a:avLst/>
          </a:prstGeom>
        </p:spPr>
      </p:pic>
      <p:pic>
        <p:nvPicPr>
          <p:cNvPr id="4" name="그래픽 3">
            <a:extLst>
              <a:ext uri="{FF2B5EF4-FFF2-40B4-BE49-F238E27FC236}">
                <a16:creationId xmlns:a16="http://schemas.microsoft.com/office/drawing/2014/main" id="{2623D155-266D-40C9-8DA7-D79009F39D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5853" y="628488"/>
            <a:ext cx="13337091" cy="1040943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440000" y="7776000"/>
            <a:ext cx="18720000" cy="1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600" b="0">
                <a:solidFill>
                  <a:srgbClr val="1A1A1A"/>
                </a:solidFill>
              </a:rPr>
              <a:t>임베디드에서 제일 비싼 버그는 </a:t>
            </a:r>
            <a:r>
              <a:rPr sz="3600" b="1">
                <a:solidFill>
                  <a:srgbClr val="1D4ED8"/>
                </a:solidFill>
              </a:rPr>
              <a:t>컴파일도 되고 업로드도 되는 버그</a:t>
            </a:r>
            <a:r>
              <a:rPr sz="3600" b="0">
                <a:solidFill>
                  <a:srgbClr val="1A1A1A"/>
                </a:solidFill>
              </a:rPr>
              <a:t>입니다.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440000" y="9936000"/>
            <a:ext cx="18720000" cy="374400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2232000" y="10512000"/>
            <a:ext cx="17280000" cy="93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9CA9BA"/>
                </a:solidFill>
                <a:latin typeface="Consolas"/>
              </a:rPr>
              <a:t>// config.h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32000" y="11520000"/>
            <a:ext cx="17280000" cy="10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Consolas"/>
              </a:rPr>
              <a:t>pinMode(</a:t>
            </a:r>
            <a:r>
              <a:rPr sz="4600" b="1">
                <a:solidFill>
                  <a:srgbClr val="7DB3FF"/>
                </a:solidFill>
                <a:latin typeface="Consolas"/>
              </a:rPr>
              <a:t>LED_PIN</a:t>
            </a:r>
            <a:r>
              <a:rPr sz="4600" b="1">
                <a:solidFill>
                  <a:srgbClr val="FFFFFF"/>
                </a:solidFill>
                <a:latin typeface="Consolas"/>
              </a:rPr>
              <a:t>, OUTPUT);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32000" y="12744000"/>
            <a:ext cx="17280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0">
                <a:solidFill>
                  <a:srgbClr val="FF8A80"/>
                </a:solidFill>
              </a:rPr>
              <a:t>컴파일 통과 · 업로드 성공 · 그 핀이 회로도에 없어도 아무도 말해주지 않음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440000" y="14328000"/>
            <a:ext cx="18720000" cy="6350"/>
          </a:xfrm>
          <a:prstGeom prst="rect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440000" y="14652000"/>
            <a:ext cx="6120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6B7280"/>
                </a:solidFill>
              </a:rPr>
              <a:t>컴파일러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40000" y="15300000"/>
            <a:ext cx="6120000" cy="86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1A1A1A"/>
                </a:solidFill>
              </a:rPr>
              <a:t>모릅니다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40000" y="14652000"/>
            <a:ext cx="6120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6B7280"/>
                </a:solidFill>
              </a:rPr>
              <a:t>EDA 설계규칙검사(DRC)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40000" y="15300000"/>
            <a:ext cx="6120000" cy="86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1A1A1A"/>
                </a:solidFill>
              </a:rPr>
              <a:t>모릅니다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040000" y="14652000"/>
            <a:ext cx="6120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6B7280"/>
                </a:solidFill>
              </a:rPr>
              <a:t>문제가 있는 곳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040000" y="15300000"/>
            <a:ext cx="6120000" cy="86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1D4ED8"/>
                </a:solidFill>
              </a:rPr>
              <a:t>코드와 회로도 사이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40000" y="16704000"/>
            <a:ext cx="18720000" cy="14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100" b="0">
                <a:solidFill>
                  <a:srgbClr val="1A1A1A"/>
                </a:solidFill>
              </a:rPr>
              <a:t>발견 시점은 보드가 도착해서 안 켜질 때입니다. 다시 만드는 데 </a:t>
            </a:r>
            <a:r>
              <a:rPr sz="3100" b="1">
                <a:solidFill>
                  <a:srgbClr val="DC2626"/>
                </a:solidFill>
              </a:rPr>
              <a:t>2~4주</a:t>
            </a:r>
            <a:r>
              <a:rPr sz="3100" b="0">
                <a:solidFill>
                  <a:srgbClr val="1A1A1A"/>
                </a:solidFill>
              </a:rPr>
              <a:t>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40000" y="20232000"/>
            <a:ext cx="18720000" cy="165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1A1A1A"/>
                </a:solidFill>
              </a:rPr>
              <a:t>이미 짜놓은 펌웨어가 </a:t>
            </a:r>
            <a:r>
              <a:rPr sz="3400" b="1">
                <a:solidFill>
                  <a:srgbClr val="1D4ED8"/>
                </a:solidFill>
              </a:rPr>
              <a:t>바뀐 회로도</a:t>
            </a:r>
            <a:r>
              <a:rPr sz="3400" b="0">
                <a:solidFill>
                  <a:srgbClr val="1A1A1A"/>
                </a:solidFill>
              </a:rPr>
              <a:t>를 따라가고 있는지, 보드를 발주하기 전에 검사합니다.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440000" y="22320000"/>
            <a:ext cx="18720000" cy="633600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2232000" y="22896000"/>
            <a:ext cx="11520000" cy="6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FFFF"/>
                </a:solidFill>
              </a:rPr>
              <a:t>같은 보드를 두 자료가 다르게 말합니다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5480000" y="22752000"/>
            <a:ext cx="3888000" cy="864000"/>
          </a:xfrm>
          <a:prstGeom prst="roundRect">
            <a:avLst>
              <a:gd name="adj" fmla="val 40000"/>
            </a:avLst>
          </a:prstGeom>
          <a:solidFill>
            <a:srgbClr val="9CA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100" b="1">
                <a:solidFill>
                  <a:srgbClr val="111827"/>
                </a:solidFill>
              </a:rPr>
              <a:t>실제 팀 보드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32000" y="23904000"/>
            <a:ext cx="17136000" cy="19050"/>
          </a:xfrm>
          <a:prstGeom prst="rect">
            <a:avLst/>
          </a:prstGeom>
          <a:solidFill>
            <a:srgbClr val="1F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232000" y="24264000"/>
            <a:ext cx="8280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0">
                <a:solidFill>
                  <a:srgbClr val="7DB3FF"/>
                </a:solidFill>
              </a:rPr>
              <a:t>회로도가 말하는 보드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520000" y="24264000"/>
            <a:ext cx="8280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0">
                <a:solidFill>
                  <a:srgbClr val="7DB3FF"/>
                </a:solidFill>
              </a:rPr>
              <a:t>코드가 말하는 보드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232000" y="25128000"/>
            <a:ext cx="8640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0">
                <a:solidFill>
                  <a:srgbClr val="FFFFFF"/>
                </a:solidFill>
                <a:latin typeface="Consolas"/>
              </a:rPr>
              <a:t>U2  mmWave 인체감지 → D2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520000" y="25128000"/>
            <a:ext cx="8280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0">
                <a:solidFill>
                  <a:srgbClr val="FFFFFF"/>
                </a:solidFill>
                <a:latin typeface="Consolas"/>
              </a:rPr>
              <a:t>TRIG = D2   초음파 송신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232000" y="25848000"/>
            <a:ext cx="8640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0">
                <a:solidFill>
                  <a:srgbClr val="FFFFFF"/>
                </a:solidFill>
                <a:latin typeface="Consolas"/>
              </a:rPr>
              <a:t>K1  릴레이 모듈 → D5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520000" y="25848000"/>
            <a:ext cx="8280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0">
                <a:solidFill>
                  <a:srgbClr val="FFFFFF"/>
                </a:solidFill>
                <a:latin typeface="Consolas"/>
              </a:rPr>
              <a:t>ECHO = D3   초음파 수신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232000" y="26568000"/>
            <a:ext cx="8640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0">
                <a:solidFill>
                  <a:srgbClr val="FFFFFF"/>
                </a:solidFill>
                <a:latin typeface="Consolas"/>
              </a:rPr>
              <a:t>D3 · D10 → N/C  배선 없음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520000" y="26568000"/>
            <a:ext cx="8280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0">
                <a:solidFill>
                  <a:srgbClr val="FFFFFF"/>
                </a:solidFill>
                <a:latin typeface="Consolas"/>
              </a:rPr>
              <a:t>LED  = D10  digitalWrite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872000" y="24192000"/>
            <a:ext cx="28800" cy="3096000"/>
          </a:xfrm>
          <a:prstGeom prst="rect">
            <a:avLst/>
          </a:prstGeom>
          <a:solidFill>
            <a:srgbClr val="1F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2232000" y="27504000"/>
            <a:ext cx="2808000" cy="792000"/>
          </a:xfrm>
          <a:prstGeom prst="roundRect">
            <a:avLst>
              <a:gd name="adj" fmla="val 4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100" b="1">
                <a:solidFill>
                  <a:srgbClr val="FFFFFF"/>
                </a:solidFill>
              </a:rPr>
              <a:t>치명 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72000" y="27576000"/>
            <a:ext cx="14040000" cy="6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</a:rPr>
              <a:t>D3 · D10 — 코드는 쓰는데 회로도엔 배선이 없습니다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440000" y="29376000"/>
            <a:ext cx="18720000" cy="21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0">
                <a:solidFill>
                  <a:srgbClr val="6B7280"/>
                </a:solidFill>
              </a:rPr>
              <a:t>회로도가 인체감지 센서로 바뀌었는데 코드는 초음파 센서 시절에 멈춰 있었습니다. </a:t>
            </a:r>
            <a:r>
              <a:rPr sz="2600" b="1">
                <a:solidFill>
                  <a:srgbClr val="1A1A1A"/>
                </a:solidFill>
              </a:rPr>
              <a:t>우리가 만든 상황이 아니라 실제로 일어난 어긋남입니다.</a:t>
            </a:r>
          </a:p>
        </p:txBody>
      </p:sp>
    </p:spTree>
    <p:extLst>
      <p:ext uri="{BB962C8B-B14F-4D97-AF65-F5344CB8AC3E}">
        <p14:creationId xmlns:p14="http://schemas.microsoft.com/office/powerpoint/2010/main" val="789450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양쪽 모서리가 둥근 사각형 11">
            <a:extLst>
              <a:ext uri="{FF2B5EF4-FFF2-40B4-BE49-F238E27FC236}">
                <a16:creationId xmlns:a16="http://schemas.microsoft.com/office/drawing/2014/main" id="{FA968856-FC43-A543-AD17-7C556373FC85}"/>
              </a:ext>
            </a:extLst>
          </p:cNvPr>
          <p:cNvSpPr/>
          <p:nvPr/>
        </p:nvSpPr>
        <p:spPr>
          <a:xfrm rot="5400000">
            <a:off x="8488568" y="-5411046"/>
            <a:ext cx="1664885" cy="16284900"/>
          </a:xfrm>
          <a:prstGeom prst="round2SameRect">
            <a:avLst/>
          </a:prstGeom>
          <a:solidFill>
            <a:srgbClr val="F7F7F7"/>
          </a:solidFill>
          <a:ln>
            <a:noFill/>
          </a:ln>
          <a:effectLst>
            <a:outerShdw blurRad="348304" dist="133471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04DBADB7-CE08-544F-BE93-B3C28ADBC1FD}"/>
              </a:ext>
            </a:extLst>
          </p:cNvPr>
          <p:cNvGrpSpPr/>
          <p:nvPr/>
        </p:nvGrpSpPr>
        <p:grpSpPr>
          <a:xfrm>
            <a:off x="1767634" y="2204560"/>
            <a:ext cx="718070" cy="827931"/>
            <a:chOff x="2690948" y="8438606"/>
            <a:chExt cx="2821577" cy="3253264"/>
          </a:xfrm>
          <a:solidFill>
            <a:schemeClr val="tx1">
              <a:lumMod val="50000"/>
              <a:lumOff val="50000"/>
              <a:alpha val="63879"/>
            </a:schemeClr>
          </a:solidFill>
        </p:grpSpPr>
        <p:sp>
          <p:nvSpPr>
            <p:cNvPr id="14" name="모서리가 둥근 직사각형 13">
              <a:extLst>
                <a:ext uri="{FF2B5EF4-FFF2-40B4-BE49-F238E27FC236}">
                  <a16:creationId xmlns:a16="http://schemas.microsoft.com/office/drawing/2014/main" id="{28A8FE4A-F2E0-E94D-904B-A035103B9292}"/>
                </a:ext>
              </a:extLst>
            </p:cNvPr>
            <p:cNvSpPr/>
            <p:nvPr/>
          </p:nvSpPr>
          <p:spPr>
            <a:xfrm rot="2700000">
              <a:off x="2690949" y="9457509"/>
              <a:ext cx="2821577" cy="783771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5" name="모서리가 둥근 직사각형 14">
              <a:extLst>
                <a:ext uri="{FF2B5EF4-FFF2-40B4-BE49-F238E27FC236}">
                  <a16:creationId xmlns:a16="http://schemas.microsoft.com/office/drawing/2014/main" id="{E01749EC-18A3-4D46-A2E6-5E8C883AC437}"/>
                </a:ext>
              </a:extLst>
            </p:cNvPr>
            <p:cNvSpPr/>
            <p:nvPr/>
          </p:nvSpPr>
          <p:spPr>
            <a:xfrm rot="18900000">
              <a:off x="2690948" y="10908099"/>
              <a:ext cx="2821577" cy="783771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sp>
        <p:nvSpPr>
          <p:cNvPr id="16" name="양쪽 모서리가 둥근 사각형 15">
            <a:extLst>
              <a:ext uri="{FF2B5EF4-FFF2-40B4-BE49-F238E27FC236}">
                <a16:creationId xmlns:a16="http://schemas.microsoft.com/office/drawing/2014/main" id="{0D0C8E16-8918-EF4A-83FC-AEE7F1CE6FB0}"/>
              </a:ext>
            </a:extLst>
          </p:cNvPr>
          <p:cNvSpPr/>
          <p:nvPr/>
        </p:nvSpPr>
        <p:spPr>
          <a:xfrm rot="5400000">
            <a:off x="8488568" y="8749121"/>
            <a:ext cx="1664885" cy="16284900"/>
          </a:xfrm>
          <a:prstGeom prst="round2SameRect">
            <a:avLst/>
          </a:prstGeom>
          <a:solidFill>
            <a:srgbClr val="F7F7F7"/>
          </a:solidFill>
          <a:ln>
            <a:noFill/>
          </a:ln>
          <a:effectLst>
            <a:outerShdw blurRad="348304" dist="133471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1F80A9C-A3E5-A246-9CA6-D5CE2B1716DB}"/>
              </a:ext>
            </a:extLst>
          </p:cNvPr>
          <p:cNvGrpSpPr/>
          <p:nvPr/>
        </p:nvGrpSpPr>
        <p:grpSpPr>
          <a:xfrm>
            <a:off x="1767634" y="16364727"/>
            <a:ext cx="718070" cy="827931"/>
            <a:chOff x="2690948" y="8438606"/>
            <a:chExt cx="2821577" cy="3253264"/>
          </a:xfrm>
          <a:solidFill>
            <a:schemeClr val="tx1">
              <a:lumMod val="50000"/>
              <a:lumOff val="50000"/>
              <a:alpha val="63879"/>
            </a:schemeClr>
          </a:solidFill>
        </p:grpSpPr>
        <p:sp>
          <p:nvSpPr>
            <p:cNvPr id="18" name="모서리가 둥근 직사각형 17">
              <a:extLst>
                <a:ext uri="{FF2B5EF4-FFF2-40B4-BE49-F238E27FC236}">
                  <a16:creationId xmlns:a16="http://schemas.microsoft.com/office/drawing/2014/main" id="{D6AD6B9C-498C-A742-A2F0-A60B455834A7}"/>
                </a:ext>
              </a:extLst>
            </p:cNvPr>
            <p:cNvSpPr/>
            <p:nvPr/>
          </p:nvSpPr>
          <p:spPr>
            <a:xfrm rot="2700000">
              <a:off x="2690949" y="9457509"/>
              <a:ext cx="2821577" cy="783771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9" name="모서리가 둥근 직사각형 18">
              <a:extLst>
                <a:ext uri="{FF2B5EF4-FFF2-40B4-BE49-F238E27FC236}">
                  <a16:creationId xmlns:a16="http://schemas.microsoft.com/office/drawing/2014/main" id="{FE4C4F2B-2AC3-F648-AEE1-6B5E6A607EC6}"/>
                </a:ext>
              </a:extLst>
            </p:cNvPr>
            <p:cNvSpPr/>
            <p:nvPr/>
          </p:nvSpPr>
          <p:spPr>
            <a:xfrm rot="18900000">
              <a:off x="2690948" y="10908099"/>
              <a:ext cx="2821577" cy="783771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82F40310-BA7B-0243-A899-041BCCD4FC8D}"/>
              </a:ext>
            </a:extLst>
          </p:cNvPr>
          <p:cNvSpPr txBox="1"/>
          <p:nvPr/>
        </p:nvSpPr>
        <p:spPr>
          <a:xfrm>
            <a:off x="2664000" y="2484000"/>
            <a:ext cx="11520000" cy="108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4500" b="1">
                <a:solidFill>
                  <a:srgbClr val="1A1A1A"/>
                </a:solidFill>
              </a:rPr>
              <a:t>올리면 검사하고, 근거를 보여줍니다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409D88-35FD-4B43-8F4E-8DC755898F93}"/>
              </a:ext>
            </a:extLst>
          </p:cNvPr>
          <p:cNvSpPr txBox="1"/>
          <p:nvPr/>
        </p:nvSpPr>
        <p:spPr>
          <a:xfrm>
            <a:off x="2664000" y="16704000"/>
            <a:ext cx="11520000" cy="108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4500" b="1">
                <a:solidFill>
                  <a:srgbClr val="1A1A1A"/>
                </a:solidFill>
              </a:rPr>
              <a:t>규칙이 판정하고, AI는 읽기만 합니다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A407FE-BCB5-08A9-B356-71845871A253}"/>
              </a:ext>
            </a:extLst>
          </p:cNvPr>
          <p:cNvSpPr txBox="1"/>
          <p:nvPr/>
        </p:nvSpPr>
        <p:spPr>
          <a:xfrm>
            <a:off x="15001308" y="2094056"/>
            <a:ext cx="19062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Solution</a:t>
            </a:r>
            <a:endParaRPr kumimoji="1" lang="ko-KR" altLang="en-US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A55F57-BD11-DCDD-36C8-0390EE7811F8}"/>
              </a:ext>
            </a:extLst>
          </p:cNvPr>
          <p:cNvSpPr txBox="1"/>
          <p:nvPr/>
        </p:nvSpPr>
        <p:spPr>
          <a:xfrm>
            <a:off x="12726326" y="16267125"/>
            <a:ext cx="41812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Technical Overview</a:t>
            </a:r>
            <a:endParaRPr kumimoji="1" lang="ko-KR" altLang="en-US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2453C68A-1C11-41BB-97BF-A7FB99532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435" y="30513008"/>
            <a:ext cx="14796655" cy="1395865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96C46FA5-DDBF-4539-A30D-34026E0C05A6}"/>
              </a:ext>
            </a:extLst>
          </p:cNvPr>
          <p:cNvGrpSpPr/>
          <p:nvPr/>
        </p:nvGrpSpPr>
        <p:grpSpPr>
          <a:xfrm rot="10800000">
            <a:off x="1" y="23571262"/>
            <a:ext cx="21599527" cy="6733970"/>
            <a:chOff x="1" y="2241353"/>
            <a:chExt cx="21599527" cy="6733970"/>
          </a:xfrm>
        </p:grpSpPr>
        <p:sp>
          <p:nvSpPr>
            <p:cNvPr id="23" name="사다리꼴[T] 3">
              <a:extLst>
                <a:ext uri="{FF2B5EF4-FFF2-40B4-BE49-F238E27FC236}">
                  <a16:creationId xmlns:a16="http://schemas.microsoft.com/office/drawing/2014/main" id="{404A1BA4-EB0F-4037-96A8-26EB98C07D5B}"/>
                </a:ext>
              </a:extLst>
            </p:cNvPr>
            <p:cNvSpPr/>
            <p:nvPr/>
          </p:nvSpPr>
          <p:spPr>
            <a:xfrm rot="10800000">
              <a:off x="1" y="2241353"/>
              <a:ext cx="21599525" cy="2904229"/>
            </a:xfrm>
            <a:custGeom>
              <a:avLst/>
              <a:gdLst>
                <a:gd name="connsiteX0" fmla="*/ 0 w 21599525"/>
                <a:gd name="connsiteY0" fmla="*/ 2904229 h 2904229"/>
                <a:gd name="connsiteX1" fmla="*/ 0 w 21599525"/>
                <a:gd name="connsiteY1" fmla="*/ 0 h 2904229"/>
                <a:gd name="connsiteX2" fmla="*/ 21599525 w 21599525"/>
                <a:gd name="connsiteY2" fmla="*/ 0 h 2904229"/>
                <a:gd name="connsiteX3" fmla="*/ 21599525 w 21599525"/>
                <a:gd name="connsiteY3" fmla="*/ 2904229 h 2904229"/>
                <a:gd name="connsiteX4" fmla="*/ 0 w 21599525"/>
                <a:gd name="connsiteY4" fmla="*/ 2904229 h 2904229"/>
                <a:gd name="connsiteX0" fmla="*/ 4127157 w 21599525"/>
                <a:gd name="connsiteY0" fmla="*/ 2904229 h 2904229"/>
                <a:gd name="connsiteX1" fmla="*/ 0 w 21599525"/>
                <a:gd name="connsiteY1" fmla="*/ 0 h 2904229"/>
                <a:gd name="connsiteX2" fmla="*/ 21599525 w 21599525"/>
                <a:gd name="connsiteY2" fmla="*/ 0 h 2904229"/>
                <a:gd name="connsiteX3" fmla="*/ 21599525 w 21599525"/>
                <a:gd name="connsiteY3" fmla="*/ 2904229 h 2904229"/>
                <a:gd name="connsiteX4" fmla="*/ 4127157 w 21599525"/>
                <a:gd name="connsiteY4" fmla="*/ 2904229 h 2904229"/>
                <a:gd name="connsiteX0" fmla="*/ 3093227 w 21599525"/>
                <a:gd name="connsiteY0" fmla="*/ 2904229 h 2904229"/>
                <a:gd name="connsiteX1" fmla="*/ 0 w 21599525"/>
                <a:gd name="connsiteY1" fmla="*/ 0 h 2904229"/>
                <a:gd name="connsiteX2" fmla="*/ 21599525 w 21599525"/>
                <a:gd name="connsiteY2" fmla="*/ 0 h 2904229"/>
                <a:gd name="connsiteX3" fmla="*/ 21599525 w 21599525"/>
                <a:gd name="connsiteY3" fmla="*/ 2904229 h 2904229"/>
                <a:gd name="connsiteX4" fmla="*/ 3093227 w 21599525"/>
                <a:gd name="connsiteY4" fmla="*/ 2904229 h 2904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99525" h="2904229">
                  <a:moveTo>
                    <a:pt x="3093227" y="2904229"/>
                  </a:moveTo>
                  <a:lnTo>
                    <a:pt x="0" y="0"/>
                  </a:lnTo>
                  <a:lnTo>
                    <a:pt x="21599525" y="0"/>
                  </a:lnTo>
                  <a:lnTo>
                    <a:pt x="21599525" y="2904229"/>
                  </a:lnTo>
                  <a:lnTo>
                    <a:pt x="3093227" y="2904229"/>
                  </a:lnTo>
                  <a:close/>
                </a:path>
              </a:pathLst>
            </a:custGeom>
            <a:gradFill flip="none" rotWithShape="1">
              <a:gsLst>
                <a:gs pos="15000">
                  <a:srgbClr val="004180"/>
                </a:gs>
                <a:gs pos="59000">
                  <a:srgbClr val="00000C"/>
                </a:gs>
              </a:gsLst>
              <a:lin ang="27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24" name="삼각형 11">
              <a:extLst>
                <a:ext uri="{FF2B5EF4-FFF2-40B4-BE49-F238E27FC236}">
                  <a16:creationId xmlns:a16="http://schemas.microsoft.com/office/drawing/2014/main" id="{12FF6185-0AD5-4FB0-9C15-3A1D230B4F1B}"/>
                </a:ext>
              </a:extLst>
            </p:cNvPr>
            <p:cNvSpPr/>
            <p:nvPr/>
          </p:nvSpPr>
          <p:spPr>
            <a:xfrm rot="10800000">
              <a:off x="17599026" y="5145582"/>
              <a:ext cx="4000502" cy="3829741"/>
            </a:xfrm>
            <a:prstGeom prst="triangle">
              <a:avLst>
                <a:gd name="adj" fmla="val 0"/>
              </a:avLst>
            </a:prstGeom>
            <a:gradFill>
              <a:gsLst>
                <a:gs pos="21000">
                  <a:srgbClr val="000517"/>
                </a:gs>
                <a:gs pos="86000">
                  <a:srgbClr val="002A6E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sp>
        <p:nvSpPr>
          <p:cNvPr id="25" name="Rectangle 24"/>
          <p:cNvSpPr/>
          <p:nvPr/>
        </p:nvSpPr>
        <p:spPr>
          <a:xfrm>
            <a:off x="1440000" y="4032000"/>
            <a:ext cx="72000" cy="172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44000" y="4032000"/>
            <a:ext cx="18000000" cy="79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A1A1A"/>
                </a:solidFill>
              </a:rPr>
              <a:t>“토폴로지가 질문을 던지고, 데이터시트가 답한다.”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4000" y="4968000"/>
            <a:ext cx="18216000" cy="86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>
                <a:solidFill>
                  <a:srgbClr val="6B7280"/>
                </a:solidFill>
              </a:rPr>
              <a:t>회로도와 코드를 대조해 의심 지점을 찾고, 그 부품의 데이터시트를 읽어 판정을 확정하거나 해제합니다.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440000" y="6120000"/>
            <a:ext cx="10800000" cy="43200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1440000" y="6372000"/>
            <a:ext cx="10800000" cy="180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1764000" y="6264000"/>
            <a:ext cx="162000" cy="162000"/>
          </a:xfrm>
          <a:prstGeom prst="ellipse">
            <a:avLst/>
          </a:prstGeom>
          <a:solidFill>
            <a:srgbClr val="9CA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2052000" y="6264000"/>
            <a:ext cx="162000" cy="162000"/>
          </a:xfrm>
          <a:prstGeom prst="ellipse">
            <a:avLst/>
          </a:prstGeom>
          <a:solidFill>
            <a:srgbClr val="9CA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2340000" y="6264000"/>
            <a:ext cx="162000" cy="162000"/>
          </a:xfrm>
          <a:prstGeom prst="ellipse">
            <a:avLst/>
          </a:prstGeom>
          <a:solidFill>
            <a:srgbClr val="9CA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3" name="Picture 32" descr="cap-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0000" y="6552000"/>
            <a:ext cx="10800000" cy="442500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1440000" y="6120000"/>
            <a:ext cx="10800000" cy="4857000"/>
          </a:xfrm>
          <a:prstGeom prst="rect">
            <a:avLst/>
          </a:prstGeom>
          <a:noFill/>
          <a:ln w="952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440000" y="11229000"/>
            <a:ext cx="10800000" cy="6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0">
                <a:solidFill>
                  <a:srgbClr val="6B7280"/>
                </a:solidFill>
              </a:rPr>
              <a:t>파일을 올리면 나오는 실제 검사 리포트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176000" y="6120000"/>
            <a:ext cx="69840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0">
                <a:solidFill>
                  <a:srgbClr val="6B7280"/>
                </a:solidFill>
              </a:rPr>
              <a:t>실제 보드에서 나온 것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3176000" y="6696000"/>
            <a:ext cx="6984000" cy="6350"/>
          </a:xfrm>
          <a:prstGeom prst="rect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176000" y="6984000"/>
            <a:ext cx="6984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DC2626"/>
                </a:solidFill>
              </a:rPr>
              <a:t>치명 4 · 경고 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176000" y="7416000"/>
            <a:ext cx="6984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6B7280"/>
                </a:solidFill>
              </a:rPr>
              <a:t>팀원이 실제로 만든 보드에서 검출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176000" y="8064000"/>
            <a:ext cx="6984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D4ED8"/>
                </a:solidFill>
              </a:rPr>
              <a:t>규칙 11개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176000" y="8496000"/>
            <a:ext cx="6984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6B7280"/>
                </a:solidFill>
              </a:rPr>
              <a:t>그중 5개는 코드와 회로도를 함께 봐야 하는 규칙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176000" y="9144000"/>
            <a:ext cx="6984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A1A1A"/>
                </a:solidFill>
              </a:rPr>
              <a:t>자동 테스트 208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176000" y="9576000"/>
            <a:ext cx="6984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6B7280"/>
                </a:solidFill>
              </a:rPr>
              <a:t>규칙마다 양성 · 음성 · 미해결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176000" y="10224000"/>
            <a:ext cx="6984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A1A1A"/>
                </a:solidFill>
              </a:rPr>
              <a:t>검증 표본 81쌍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176000" y="10656000"/>
            <a:ext cx="6984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6B7280"/>
                </a:solidFill>
              </a:rPr>
              <a:t>넷리스트와 펌웨어가 같이 있는 오픈소스 보드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440000" y="12168000"/>
            <a:ext cx="18720000" cy="3168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ounded Rectangle 46"/>
          <p:cNvSpPr/>
          <p:nvPr/>
        </p:nvSpPr>
        <p:spPr>
          <a:xfrm>
            <a:off x="1944000" y="12528000"/>
            <a:ext cx="1656000" cy="576000"/>
          </a:xfrm>
          <a:prstGeom prst="roundRect">
            <a:avLst>
              <a:gd name="adj" fmla="val 4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100" b="1">
                <a:solidFill>
                  <a:srgbClr val="FFFFFF"/>
                </a:solidFill>
              </a:rPr>
              <a:t>치명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60000" y="12528000"/>
            <a:ext cx="12600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A1A1A"/>
                </a:solidFill>
              </a:rPr>
              <a:t>R07   코드가 쓰는 핀이 회로도에 미연결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7928000" y="12528000"/>
            <a:ext cx="1728000" cy="576000"/>
          </a:xfrm>
          <a:prstGeom prst="roundRect">
            <a:avLst>
              <a:gd name="adj" fmla="val 40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100" b="1">
                <a:solidFill>
                  <a:srgbClr val="FFFFFF"/>
                </a:solidFill>
              </a:rPr>
              <a:t>차별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44000" y="13392000"/>
            <a:ext cx="17712000" cy="6350"/>
          </a:xfrm>
          <a:prstGeom prst="rect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44000" y="13752000"/>
            <a:ext cx="5328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6B7280"/>
                </a:solidFill>
              </a:rPr>
              <a:t>회로도가 아는 것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16000" y="13752000"/>
            <a:ext cx="12384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1A1A1A"/>
                </a:solidFill>
                <a:latin typeface="Consolas"/>
              </a:rPr>
              <a:t>U1.D10  →  N/C   연결된 네트 없음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944000" y="14256000"/>
            <a:ext cx="5328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6B7280"/>
                </a:solidFill>
              </a:rPr>
              <a:t>코드가 아는 것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16000" y="14256000"/>
            <a:ext cx="12384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1A1A1A"/>
                </a:solidFill>
                <a:latin typeface="Consolas"/>
              </a:rPr>
              <a:t>main.ino:16   const int LED_PIN = D10;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944000" y="14760000"/>
            <a:ext cx="5328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6B7280"/>
                </a:solidFill>
              </a:rPr>
              <a:t>데이터시트가 아는 것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16000" y="14760000"/>
            <a:ext cx="12384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6B7280"/>
                </a:solidFill>
              </a:rPr>
              <a:t>근거 없음 — 이 판정에 쓸 값을 찾지 못했습니다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440000" y="15552000"/>
            <a:ext cx="18720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>
                <a:solidFill>
                  <a:srgbClr val="6B7280"/>
                </a:solidFill>
              </a:rPr>
              <a:t>비어 있는 줄은 지우지 않습니다. 그 빈 줄이 “무엇이 있어야 판정이 되는가”입니다.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440000" y="18360000"/>
            <a:ext cx="6192000" cy="864000"/>
          </a:xfrm>
          <a:prstGeom prst="roundRect">
            <a:avLst/>
          </a:prstGeom>
          <a:solidFill>
            <a:srgbClr val="F7F8FA"/>
          </a:solidFill>
          <a:ln w="952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1800000" y="18468000"/>
            <a:ext cx="5616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A1A1A"/>
                </a:solidFill>
              </a:rPr>
              <a:t>넷리스트 파서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800000" y="18900000"/>
            <a:ext cx="5688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6B7280"/>
                </a:solidFill>
              </a:rPr>
              <a:t>IPC-D-356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440000" y="19332000"/>
            <a:ext cx="6192000" cy="864000"/>
          </a:xfrm>
          <a:prstGeom prst="roundRect">
            <a:avLst/>
          </a:prstGeom>
          <a:solidFill>
            <a:srgbClr val="F7F8FA"/>
          </a:solidFill>
          <a:ln w="952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1800000" y="19440000"/>
            <a:ext cx="5616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A1A1A"/>
                </a:solidFill>
              </a:rPr>
              <a:t>펌웨어 정적 분석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800000" y="19872000"/>
            <a:ext cx="5688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6B7280"/>
                </a:solidFill>
              </a:rPr>
              <a:t>C / C++ 핀 상수 추적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440000" y="20304000"/>
            <a:ext cx="6192000" cy="864000"/>
          </a:xfrm>
          <a:prstGeom prst="roundRect">
            <a:avLst/>
          </a:prstGeom>
          <a:solidFill>
            <a:srgbClr val="F7F8FA"/>
          </a:solidFill>
          <a:ln w="952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1800000" y="20412000"/>
            <a:ext cx="5616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A1A1A"/>
                </a:solidFill>
              </a:rPr>
              <a:t>데이터시트 추출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800000" y="20844000"/>
            <a:ext cx="5688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6B7280"/>
                </a:solidFill>
              </a:rPr>
              <a:t>부품 PDF → JSON  ·  AI</a:t>
            </a:r>
          </a:p>
        </p:txBody>
      </p:sp>
      <p:sp>
        <p:nvSpPr>
          <p:cNvPr id="67" name="Right Arrow 66"/>
          <p:cNvSpPr/>
          <p:nvPr/>
        </p:nvSpPr>
        <p:spPr>
          <a:xfrm>
            <a:off x="7848000" y="19584000"/>
            <a:ext cx="792000" cy="360000"/>
          </a:xfrm>
          <a:prstGeom prst="rightArrow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ounded Rectangle 67"/>
          <p:cNvSpPr/>
          <p:nvPr/>
        </p:nvSpPr>
        <p:spPr>
          <a:xfrm>
            <a:off x="8928000" y="18828000"/>
            <a:ext cx="4680000" cy="1872000"/>
          </a:xfrm>
          <a:prstGeom prst="roundRect">
            <a:avLst/>
          </a:prstGeom>
          <a:solidFill>
            <a:srgbClr val="EEF3FF"/>
          </a:solidFill>
          <a:ln w="1905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9072000" y="19188000"/>
            <a:ext cx="43920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1D4ED8"/>
                </a:solidFill>
              </a:rPr>
              <a:t>규칙 엔진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72000" y="19800000"/>
            <a:ext cx="4392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0">
                <a:solidFill>
                  <a:srgbClr val="6B7280"/>
                </a:solidFill>
              </a:rPr>
              <a:t>규칙 11개 · 결정적</a:t>
            </a:r>
          </a:p>
        </p:txBody>
      </p:sp>
      <p:sp>
        <p:nvSpPr>
          <p:cNvPr id="71" name="Right Arrow 70"/>
          <p:cNvSpPr/>
          <p:nvPr/>
        </p:nvSpPr>
        <p:spPr>
          <a:xfrm>
            <a:off x="13824000" y="19584000"/>
            <a:ext cx="792000" cy="360000"/>
          </a:xfrm>
          <a:prstGeom prst="rightArrow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Rounded Rectangle 71"/>
          <p:cNvSpPr/>
          <p:nvPr/>
        </p:nvSpPr>
        <p:spPr>
          <a:xfrm>
            <a:off x="14832000" y="18828000"/>
            <a:ext cx="5328000" cy="864000"/>
          </a:xfrm>
          <a:prstGeom prst="roundRect">
            <a:avLst/>
          </a:prstGeom>
          <a:solidFill>
            <a:srgbClr val="F7F8FA"/>
          </a:solidFill>
          <a:ln w="952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15192000" y="18936000"/>
            <a:ext cx="468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A1A1A"/>
                </a:solidFill>
              </a:rPr>
              <a:t>웹 리포트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5192000" y="19368000"/>
            <a:ext cx="4752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6B7280"/>
                </a:solidFill>
              </a:rPr>
              <a:t>FastAPI + React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4832000" y="19836000"/>
            <a:ext cx="5328000" cy="864000"/>
          </a:xfrm>
          <a:prstGeom prst="roundRect">
            <a:avLst/>
          </a:prstGeom>
          <a:solidFill>
            <a:srgbClr val="F7F8FA"/>
          </a:solidFill>
          <a:ln w="952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15192000" y="19944000"/>
            <a:ext cx="468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A1A1A"/>
                </a:solidFill>
              </a:rPr>
              <a:t>GitHub Action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5192000" y="20376000"/>
            <a:ext cx="4752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6B7280"/>
                </a:solidFill>
              </a:rPr>
              <a:t>PR마다 자동 검사 · 이전 커밋과 비교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440000" y="21384000"/>
            <a:ext cx="18720000" cy="1872000"/>
          </a:xfrm>
          <a:prstGeom prst="roundRect">
            <a:avLst/>
          </a:prstGeom>
          <a:solidFill>
            <a:srgbClr val="EE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2160000" y="21744000"/>
            <a:ext cx="17280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D4ED8"/>
                </a:solidFill>
              </a:rPr>
              <a:t>AI는 읽는 자리에만 있습니다. 판정하는 자리가 아닙니다.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160000" y="22392000"/>
            <a:ext cx="17424000" cy="79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0">
                <a:solidFill>
                  <a:srgbClr val="1A1A1A"/>
                </a:solidFill>
              </a:rPr>
              <a:t>AI가 “93번 줄에 이 핀이 있다”고 하면 93번 줄을 실제로 열어봅니다. 없으면 버립니다. 그래서 </a:t>
            </a:r>
            <a:r>
              <a:rPr sz="2300" b="1">
                <a:solidFill>
                  <a:srgbClr val="1A1A1A"/>
                </a:solidFill>
              </a:rPr>
              <a:t>같은 입력에는 언제나 같은 결과가 나옵니다.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032000" y="23904000"/>
            <a:ext cx="158400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</a:rPr>
              <a:t>1   </a:t>
            </a:r>
            <a:r>
              <a:rPr sz="2400" b="1">
                <a:solidFill>
                  <a:srgbClr val="1A1A1A"/>
                </a:solidFill>
              </a:rPr>
              <a:t>판정은 결정적 코드가 합니다   </a:t>
            </a:r>
            <a:r>
              <a:rPr sz="2400" b="0">
                <a:solidFill>
                  <a:srgbClr val="6B7280"/>
                </a:solidFill>
              </a:rPr>
              <a:t>같은 입력이면 언제나 같은 결과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032000" y="24480000"/>
            <a:ext cx="158400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</a:rPr>
              <a:t>2   </a:t>
            </a:r>
            <a:r>
              <a:rPr sz="2400" b="1">
                <a:solidFill>
                  <a:srgbClr val="1A1A1A"/>
                </a:solidFill>
              </a:rPr>
              <a:t>모르면 “모른다”고 합니다   </a:t>
            </a:r>
            <a:r>
              <a:rPr sz="2400" b="0">
                <a:solidFill>
                  <a:srgbClr val="6B7280"/>
                </a:solidFill>
              </a:rPr>
              <a:t>무엇을 주면 판정이 되는지까지 알려줍니다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032000" y="25056000"/>
            <a:ext cx="158400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</a:rPr>
              <a:t>3   </a:t>
            </a:r>
            <a:r>
              <a:rPr sz="2400" b="1">
                <a:solidFill>
                  <a:srgbClr val="1A1A1A"/>
                </a:solidFill>
              </a:rPr>
              <a:t>못 한 일을 숨기지 않습니다   </a:t>
            </a:r>
            <a:r>
              <a:rPr sz="2400" b="0">
                <a:solidFill>
                  <a:srgbClr val="6B7280"/>
                </a:solidFill>
              </a:rPr>
              <a:t>실행하지 못한 검사는 사유와 함께 남습니다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032000" y="25920000"/>
            <a:ext cx="72000" cy="1080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536000" y="25848000"/>
            <a:ext cx="15408000" cy="12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1A1A1A"/>
                </a:solidFill>
              </a:rPr>
              <a:t>첫 실행에서 나온 발견 3건 중 1건이 오탐이었습니다. 실패가 아니라 가장 큰 수확으로 봤습니다 — 린터는 못 잡아서가 아니라 잘못 잡아서 꺼지기 때문입니다.</a:t>
            </a:r>
          </a:p>
        </p:txBody>
      </p:sp>
    </p:spTree>
    <p:extLst>
      <p:ext uri="{BB962C8B-B14F-4D97-AF65-F5344CB8AC3E}">
        <p14:creationId xmlns:p14="http://schemas.microsoft.com/office/powerpoint/2010/main" val="24040992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436</TotalTime>
  <Words>24</Words>
  <Application>Microsoft Office PowerPoint</Application>
  <PresentationFormat>사용자 지정</PresentationFormat>
  <Paragraphs>10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송수민</dc:creator>
  <cp:lastModifiedBy>SW_Tetra02</cp:lastModifiedBy>
  <cp:revision>23</cp:revision>
  <dcterms:created xsi:type="dcterms:W3CDTF">2024-08-20T05:23:05Z</dcterms:created>
  <dcterms:modified xsi:type="dcterms:W3CDTF">2026-08-14T02:23:26Z</dcterms:modified>
</cp:coreProperties>
</file>